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Light" panose="02000000000000000000" pitchFamily="2" charset="0"/>
      <p:regular r:id="rId22"/>
      <p:italic r:id="rId23"/>
    </p:embeddedFont>
    <p:embeddedFont>
      <p:font typeface="Roboto Medium" panose="02000000000000000000" pitchFamily="2"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1" d="100"/>
          <a:sy n="71" d="100"/>
        </p:scale>
        <p:origin x="1354"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11/06/2020</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www.youtube.com/watch?v=Zq1QDAkoRzU" TargetMode="Externa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August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pPr algn="l" indent="-137160" marL="137160">
              <a:lnSpc>
                <a:spcPct val="120000"/>
              </a:lnSpc>
              <a:spcAft>
                <a:spcPts val="800"/>
              </a:spcAft>
              <a:buFont typeface="Roboto Light"/>
              <a:buChar char="–"/>
            </a:pPr>
            <a:r>
              <a:rPr lang="en-AU" sz="1250" dirty="0">
                <a:solidFill>
                  <a:srgbClr val="4A4A4E"/>
                </a:solidFill>
                <a:latin typeface="Roboto Light" panose="02000000000000000000" pitchFamily="2" charset="0"/>
                <a:ea typeface="Roboto Light" panose="02000000000000000000" pitchFamily="2" charset="0"/>
              </a:rPr>
              <a:t>Older Families – Budget is the single highest-value segment ($160.8k) despite a mid-sized customer base — driven by per-customer spend, not volume.</a:t>
            </a:r>
          </a:p>
          <a:p>
            <a:pPr indent="-137160" marL="137160">
              <a:lnSpc>
                <a:spcPct val="120000"/>
              </a:lnSpc>
              <a:spcAft>
                <a:spcPts val="800"/>
              </a:spcAft>
              <a:buFont typeface="Roboto Light"/>
              <a:buChar char="–"/>
            </a:pPr>
            <a:r>
              <a:rPr sz="1250">
                <a:solidFill>
                  <a:srgbClr val="4A4A4E"/>
                </a:solidFill>
                <a:latin typeface="Roboto Light"/>
              </a:rPr>
              <a:t>Household size (not premium tier) is the main driver of purchase volume: family segments buy ~9 units/customer vs ~4.5 for Singles/Couples.</a:t>
            </a:r>
          </a:p>
          <a:p>
            <a:pPr indent="-137160" marL="137160">
              <a:lnSpc>
                <a:spcPct val="120000"/>
              </a:lnSpc>
              <a:spcAft>
                <a:spcPts val="800"/>
              </a:spcAft>
              <a:buFont typeface="Roboto Light"/>
              <a:buChar char="–"/>
            </a:pPr>
            <a:r>
              <a:rPr sz="1250">
                <a:solidFill>
                  <a:srgbClr val="4A4A4E"/>
                </a:solidFill>
                <a:latin typeface="Roboto Light"/>
              </a:rPr>
              <a:t>Kettle is the top-selling brand in every segment; Young Singles/Couples–Mainstream shoppers over-index on Tyrrells and Twisties and pay a statistically significant price premium.</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pPr indent="-137160" marL="137160">
              <a:lnSpc>
                <a:spcPct val="120000"/>
              </a:lnSpc>
              <a:spcAft>
                <a:spcPts val="800"/>
              </a:spcAft>
              <a:buFont typeface="Roboto Light"/>
              <a:buChar char="–"/>
            </a:pPr>
            <a:r>
              <a:rPr lang="en-AU" sz="1250" dirty="0">
                <a:solidFill>
                  <a:srgbClr val="4A4A4E"/>
                </a:solidFill>
                <a:latin typeface="Roboto Light" panose="02000000000000000000" pitchFamily="2" charset="0"/>
                <a:ea typeface="Roboto Light" panose="02000000000000000000" pitchFamily="2" charset="0"/>
              </a:rPr>
              <a:t>Trial stores 77, 86 and 88 were each matched to a control store using pre-trial sales correlation and magnitude of monthly sales.</a:t>
            </a:r>
          </a:p>
          <a:p>
            <a:pPr indent="-137160" marL="137160">
              <a:lnSpc>
                <a:spcPct val="120000"/>
              </a:lnSpc>
              <a:spcAft>
                <a:spcPts val="800"/>
              </a:spcAft>
              <a:buFont typeface="Roboto Light"/>
              <a:buChar char="–"/>
            </a:pPr>
            <a:r>
              <a:rPr sz="1250">
                <a:solidFill>
                  <a:srgbClr val="4A4A4E"/>
                </a:solidFill>
                <a:latin typeface="Roboto Light"/>
              </a:rPr>
              <a:t>All three trial stores showed a statistically significant sales uplift in March 2019 (t &gt; 1.943 critical value); the uplift held into April for stores 77 and 88.</a:t>
            </a:r>
          </a:p>
          <a:p>
            <a:pPr indent="-137160" marL="137160">
              <a:lnSpc>
                <a:spcPct val="120000"/>
              </a:lnSpc>
              <a:spcAft>
                <a:spcPts val="800"/>
              </a:spcAft>
              <a:buFont typeface="Roboto Light"/>
              <a:buChar char="–"/>
            </a:pPr>
            <a:r>
              <a:rPr sz="1250">
                <a:solidFill>
                  <a:srgbClr val="4A4A4E"/>
                </a:solidFill>
                <a:latin typeface="Roboto Light"/>
              </a:rPr>
              <a:t>The new trial layout drove a genuine, replicable increase in sales — recommended for wider rollout, with store-level driver analysis available in the supporting notebook.</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Older Families on a Budget are the category's most valuable customers</a:t>
            </a: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11" name="TextBox 10"/>
          <p:cNvSpPr txBox="1"/>
          <p:nvPr/>
        </p:nvSpPr>
        <p:spPr>
          <a:xfrm>
            <a:off x="1197864" y="1572768"/>
            <a:ext cx="9784080" cy="548640"/>
          </a:xfrm>
          <a:prstGeom prst="rect">
            <a:avLst/>
          </a:prstGeom>
          <a:noFill/>
        </p:spPr>
        <p:txBody>
          <a:bodyPr wrap="square">
            <a:spAutoFit/>
          </a:bodyPr>
          <a:lstStyle/>
          <a:p>
            <a:pPr algn="l">
              <a:lnSpc>
                <a:spcPct val="115000"/>
              </a:lnSpc>
              <a:spcAft>
                <a:spcPts val="600"/>
              </a:spcAft>
            </a:pPr>
            <a:r>
              <a:rPr sz="1300" b="0">
                <a:solidFill>
                  <a:srgbClr val="736E68"/>
                </a:solidFill>
                <a:latin typeface="Roboto Light"/>
              </a:rPr>
              <a:t>Across 255,510 cleaned transactions, total chip category sales are concentrated in a handful of segments — led by spend intensity, not just customer count.</a:t>
            </a:r>
          </a:p>
        </p:txBody>
      </p:sp>
      <p:pic>
        <p:nvPicPr>
          <p:cNvPr id="12" name="Picture 11" descr="top_segments.png"/>
          <p:cNvPicPr>
            <a:picLocks noChangeAspect="1"/>
          </p:cNvPicPr>
          <p:nvPr/>
        </p:nvPicPr>
        <p:blipFill>
          <a:blip r:embed="rId3"/>
          <a:stretch>
            <a:fillRect/>
          </a:stretch>
        </p:blipFill>
        <p:spPr>
          <a:xfrm>
            <a:off x="1737360" y="2286000"/>
            <a:ext cx="8229600" cy="3935325"/>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Spend is driven by two distinct patterns: family size and mainstream loyalty</a:t>
            </a: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5" name="Picture 4" descr="segment_heatmap.png"/>
          <p:cNvPicPr>
            <a:picLocks noChangeAspect="1"/>
          </p:cNvPicPr>
          <p:nvPr/>
        </p:nvPicPr>
        <p:blipFill>
          <a:blip r:embed="rId3"/>
          <a:stretch>
            <a:fillRect/>
          </a:stretch>
        </p:blipFill>
        <p:spPr>
          <a:xfrm>
            <a:off x="1197864" y="1737360"/>
            <a:ext cx="6217920" cy="3439700"/>
          </a:xfrm>
          <a:prstGeom prst="rect">
            <a:avLst/>
          </a:prstGeom>
        </p:spPr>
      </p:pic>
      <p:sp>
        <p:nvSpPr>
          <p:cNvPr id="6" name="TextBox 5"/>
          <p:cNvSpPr txBox="1"/>
          <p:nvPr/>
        </p:nvSpPr>
        <p:spPr>
          <a:xfrm>
            <a:off x="7680960" y="1828800"/>
            <a:ext cx="3291840" cy="3657600"/>
          </a:xfrm>
          <a:prstGeom prst="rect">
            <a:avLst/>
          </a:prstGeom>
          <a:noFill/>
        </p:spPr>
        <p:txBody>
          <a:bodyPr wrap="square">
            <a:spAutoFit/>
          </a:bodyPr>
          <a:lstStyle/>
          <a:p>
            <a:pPr algn="l" indent="-137160" marL="137160">
              <a:lnSpc>
                <a:spcPct val="115000"/>
              </a:lnSpc>
              <a:spcAft>
                <a:spcPts val="1200"/>
              </a:spcAft>
              <a:buFont typeface="Roboto Light"/>
              <a:buChar char="–"/>
            </a:pPr>
            <a:r>
              <a:rPr sz="1200" b="0">
                <a:solidFill>
                  <a:srgbClr val="4A4A4E"/>
                </a:solidFill>
                <a:latin typeface="Roboto Light"/>
              </a:rPr>
              <a:t>Older Families – Budget tops every column at $160.8k, over 60% ahead of the next Budget segment.</a:t>
            </a:r>
          </a:p>
          <a:p>
            <a:pPr algn="l" indent="-137160" marL="137160">
              <a:lnSpc>
                <a:spcPct val="115000"/>
              </a:lnSpc>
              <a:spcAft>
                <a:spcPts val="1200"/>
              </a:spcAft>
              <a:buFont typeface="Roboto Light"/>
              <a:buChar char="–"/>
            </a:pPr>
            <a:r>
              <a:rPr sz="1200" b="0">
                <a:solidFill>
                  <a:srgbClr val="4A4A4E"/>
                </a:solidFill>
                <a:latin typeface="Roboto Light"/>
              </a:rPr>
              <a:t>Mainstream shoppers dominate for Retirees ($148.2k) and Young Singles/Couples ($149.4k) — a customer-volume story rather than a spend-per-head story.</a:t>
            </a:r>
          </a:p>
          <a:p>
            <a:pPr algn="l" indent="-137160" marL="137160">
              <a:lnSpc>
                <a:spcPct val="115000"/>
              </a:lnSpc>
              <a:spcAft>
                <a:spcPts val="1200"/>
              </a:spcAft>
              <a:buFont typeface="Roboto Light"/>
              <a:buChar char="–"/>
            </a:pPr>
            <a:r>
              <a:rPr sz="1200" b="0">
                <a:solidFill>
                  <a:srgbClr val="4A4A4E"/>
                </a:solidFill>
                <a:latin typeface="Roboto Light"/>
              </a:rPr>
              <a:t>New Families is the smallest segment across all three tiers, consistent with its small customer base (2,549 customers).</a:t>
            </a:r>
          </a:p>
          <a:p>
            <a:pPr algn="l" indent="-137160" marL="137160">
              <a:lnSpc>
                <a:spcPct val="115000"/>
              </a:lnSpc>
              <a:spcAft>
                <a:spcPts val="1200"/>
              </a:spcAft>
              <a:buFont typeface="Roboto Light"/>
              <a:buChar char="–"/>
            </a:pPr>
            <a:r>
              <a:rPr sz="1200" b="0">
                <a:solidFill>
                  <a:srgbClr val="4A4A4E"/>
                </a:solidFill>
                <a:latin typeface="Roboto Light"/>
              </a:rPr>
              <a:t>Affluence tier (Budget/Mainstream/Premium) matters less than life stage: family segments consistently outspend equivalent Singles/Couples segments.</a:t>
            </a: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Young Singles/Couples – Mainstream is the category's largest customer base</a:t>
            </a:r>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sp>
        <p:nvSpPr>
          <p:cNvPr id="11" name="TextBox 10"/>
          <p:cNvSpPr txBox="1"/>
          <p:nvPr/>
        </p:nvSpPr>
        <p:spPr>
          <a:xfrm>
            <a:off x="1197864" y="1417320"/>
            <a:ext cx="9784080" cy="502920"/>
          </a:xfrm>
          <a:prstGeom prst="rect">
            <a:avLst/>
          </a:prstGeom>
          <a:noFill/>
        </p:spPr>
        <p:txBody>
          <a:bodyPr wrap="square">
            <a:spAutoFit/>
          </a:bodyPr>
          <a:lstStyle/>
          <a:p>
            <a:pPr algn="l">
              <a:lnSpc>
                <a:spcPct val="115000"/>
              </a:lnSpc>
              <a:spcAft>
                <a:spcPts val="600"/>
              </a:spcAft>
            </a:pPr>
            <a:r>
              <a:rPr sz="1300" b="0">
                <a:solidFill>
                  <a:srgbClr val="736E68"/>
                </a:solidFill>
                <a:latin typeface="Roboto Light"/>
              </a:rPr>
              <a:t>Top 10 segments by number of unique customers (of 72,637 total) — colour shows Premium Customer tier.</a:t>
            </a:r>
          </a:p>
        </p:txBody>
      </p:sp>
      <p:pic>
        <p:nvPicPr>
          <p:cNvPr id="12" name="Picture 11" descr="customer_counts.png"/>
          <p:cNvPicPr>
            <a:picLocks noChangeAspect="1"/>
          </p:cNvPicPr>
          <p:nvPr/>
        </p:nvPicPr>
        <p:blipFill>
          <a:blip r:embed="rId3"/>
          <a:stretch>
            <a:fillRect/>
          </a:stretch>
        </p:blipFill>
        <p:spPr>
          <a:xfrm>
            <a:off x="1554480" y="2011680"/>
            <a:ext cx="8229600" cy="4411744"/>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Each trial store was paired with a control store using pre-trial sales patterns</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
        <p:nvSpPr>
          <p:cNvPr id="5" name="TextBox 4"/>
          <p:cNvSpPr txBox="1"/>
          <p:nvPr/>
        </p:nvSpPr>
        <p:spPr>
          <a:xfrm>
            <a:off x="1197864" y="1417320"/>
            <a:ext cx="9784080" cy="1097280"/>
          </a:xfrm>
          <a:prstGeom prst="rect">
            <a:avLst/>
          </a:prstGeom>
          <a:noFill/>
        </p:spPr>
        <p:txBody>
          <a:bodyPr wrap="square">
            <a:spAutoFit/>
          </a:bodyPr>
          <a:lstStyle/>
          <a:p>
            <a:pPr algn="l">
              <a:lnSpc>
                <a:spcPct val="120000"/>
              </a:lnSpc>
              <a:spcAft>
                <a:spcPts val="600"/>
              </a:spcAft>
            </a:pPr>
            <a:r>
              <a:rPr sz="1300" b="0">
                <a:solidFill>
                  <a:srgbClr val="736E68"/>
                </a:solidFill>
                <a:latin typeface="Roboto Light"/>
              </a:rPr>
              <a:t>For each trial store, every other store was scored against it on two pre-trial (Jul 2018–Jan 2019) measures: the correlation of monthly sales trends, and the magnitude (scaled distance) of monthly sales levels. The two scores were combined in a 50/50 weighted blend, and the highest-scoring store was selected as the control.</a:t>
            </a:r>
          </a:p>
        </p:txBody>
      </p:sp>
      <p:graphicFrame>
        <p:nvGraphicFramePr>
          <p:cNvPr id="6" name="Table 5"/>
          <p:cNvGraphicFramePr>
            <a:graphicFrameLocks noGrp="1"/>
          </p:cNvGraphicFramePr>
          <p:nvPr/>
        </p:nvGraphicFramePr>
        <p:xfrm>
          <a:off x="1554480" y="2834640"/>
          <a:ext cx="7315200" cy="2011680"/>
        </p:xfrm>
        <a:graphic>
          <a:graphicData uri="http://schemas.openxmlformats.org/drawingml/2006/table">
            <a:tbl>
              <a:tblPr firstRow="1" bandRow="1">
                <a:tableStyleId>{5C22544A-7EE6-4342-B048-85BDC9FD1C3A}</a:tableStyleId>
              </a:tblPr>
              <a:tblGrid>
                <a:gridCol w="2377440"/>
                <a:gridCol w="2377440"/>
                <a:gridCol w="2560320"/>
              </a:tblGrid>
              <a:tr h="502920">
                <a:tc>
                  <a:txBody>
                    <a:bodyPr/>
                    <a:lstStyle/>
                    <a:p>
                      <a:pPr algn="ctr"/>
                      <a:r>
                        <a:rPr sz="1200" b="1">
                          <a:solidFill>
                            <a:srgbClr val="FFFFFF"/>
                          </a:solidFill>
                          <a:latin typeface="Roboto Light"/>
                        </a:rPr>
                        <a:t>Trial store</a:t>
                      </a:r>
                    </a:p>
                  </a:txBody>
                  <a:tcPr anchor="ctr">
                    <a:solidFill>
                      <a:srgbClr val="000005"/>
                    </a:solidFill>
                  </a:tcPr>
                </a:tc>
                <a:tc>
                  <a:txBody>
                    <a:bodyPr/>
                    <a:lstStyle/>
                    <a:p>
                      <a:pPr algn="ctr"/>
                      <a:r>
                        <a:rPr sz="1200" b="1">
                          <a:solidFill>
                            <a:srgbClr val="FFFFFF"/>
                          </a:solidFill>
                          <a:latin typeface="Roboto Light"/>
                        </a:rPr>
                        <a:t>Control store</a:t>
                      </a:r>
                    </a:p>
                  </a:txBody>
                  <a:tcPr anchor="ctr">
                    <a:solidFill>
                      <a:srgbClr val="000005"/>
                    </a:solidFill>
                  </a:tcPr>
                </a:tc>
                <a:tc>
                  <a:txBody>
                    <a:bodyPr/>
                    <a:lstStyle/>
                    <a:p>
                      <a:pPr algn="ctr"/>
                      <a:r>
                        <a:rPr sz="1200" b="1">
                          <a:solidFill>
                            <a:srgbClr val="FFFFFF"/>
                          </a:solidFill>
                          <a:latin typeface="Roboto Light"/>
                        </a:rPr>
                        <a:t>Selection basis</a:t>
                      </a:r>
                    </a:p>
                  </a:txBody>
                  <a:tcPr anchor="ctr">
                    <a:solidFill>
                      <a:srgbClr val="000005"/>
                    </a:solidFill>
                  </a:tcPr>
                </a:tc>
              </a:tr>
              <a:tr h="502920">
                <a:tc>
                  <a:txBody>
                    <a:bodyPr/>
                    <a:lstStyle/>
                    <a:p>
                      <a:pPr algn="ctr"/>
                      <a:r>
                        <a:rPr sz="1200" b="1">
                          <a:solidFill>
                            <a:srgbClr val="4A4A4E"/>
                          </a:solidFill>
                          <a:latin typeface="Roboto Light"/>
                        </a:rPr>
                        <a:t>Store 77</a:t>
                      </a:r>
                    </a:p>
                  </a:txBody>
                  <a:tcPr anchor="ctr">
                    <a:solidFill>
                      <a:srgbClr val="FFFFFF"/>
                    </a:solidFill>
                  </a:tcPr>
                </a:tc>
                <a:tc>
                  <a:txBody>
                    <a:bodyPr/>
                    <a:lstStyle/>
                    <a:p>
                      <a:pPr algn="ctr"/>
                      <a:r>
                        <a:rPr sz="1200">
                          <a:solidFill>
                            <a:srgbClr val="4A4A4E"/>
                          </a:solidFill>
                          <a:latin typeface="Roboto Light"/>
                        </a:rPr>
                        <a:t>Matched control</a:t>
                      </a:r>
                    </a:p>
                  </a:txBody>
                  <a:tcPr anchor="ctr">
                    <a:solidFill>
                      <a:srgbClr val="FFFFFF"/>
                    </a:solidFill>
                  </a:tcPr>
                </a:tc>
                <a:tc>
                  <a:txBody>
                    <a:bodyPr/>
                    <a:lstStyle/>
                    <a:p>
                      <a:pPr algn="ctr"/>
                      <a:r>
                        <a:rPr sz="1200">
                          <a:solidFill>
                            <a:srgbClr val="4A4A4E"/>
                          </a:solidFill>
                          <a:latin typeface="Roboto Light"/>
                        </a:rPr>
                        <a:t>Highest combined correlation + magnitude score</a:t>
                      </a:r>
                    </a:p>
                  </a:txBody>
                  <a:tcPr anchor="ctr">
                    <a:solidFill>
                      <a:srgbClr val="FFFFFF"/>
                    </a:solidFill>
                  </a:tcPr>
                </a:tc>
              </a:tr>
              <a:tr h="502920">
                <a:tc>
                  <a:txBody>
                    <a:bodyPr/>
                    <a:lstStyle/>
                    <a:p>
                      <a:pPr algn="ctr"/>
                      <a:r>
                        <a:rPr sz="1200" b="1">
                          <a:solidFill>
                            <a:srgbClr val="4A4A4E"/>
                          </a:solidFill>
                          <a:latin typeface="Roboto Light"/>
                        </a:rPr>
                        <a:t>Store 86</a:t>
                      </a:r>
                    </a:p>
                  </a:txBody>
                  <a:tcPr anchor="ctr">
                    <a:solidFill>
                      <a:srgbClr val="FFFFFF"/>
                    </a:solidFill>
                  </a:tcPr>
                </a:tc>
                <a:tc>
                  <a:txBody>
                    <a:bodyPr/>
                    <a:lstStyle/>
                    <a:p>
                      <a:pPr algn="ctr"/>
                      <a:r>
                        <a:rPr sz="1200">
                          <a:solidFill>
                            <a:srgbClr val="4A4A4E"/>
                          </a:solidFill>
                          <a:latin typeface="Roboto Light"/>
                        </a:rPr>
                        <a:t>Store 155</a:t>
                      </a:r>
                    </a:p>
                  </a:txBody>
                  <a:tcPr anchor="ctr">
                    <a:solidFill>
                      <a:srgbClr val="FFFFFF"/>
                    </a:solidFill>
                  </a:tcPr>
                </a:tc>
                <a:tc>
                  <a:txBody>
                    <a:bodyPr/>
                    <a:lstStyle/>
                    <a:p>
                      <a:pPr algn="ctr"/>
                      <a:r>
                        <a:rPr sz="1200">
                          <a:solidFill>
                            <a:srgbClr val="4A4A4E"/>
                          </a:solidFill>
                          <a:latin typeface="Roboto Light"/>
                        </a:rPr>
                        <a:t>Highest combined correlation + magnitude score</a:t>
                      </a:r>
                    </a:p>
                  </a:txBody>
                  <a:tcPr anchor="ctr">
                    <a:solidFill>
                      <a:srgbClr val="FFFFFF"/>
                    </a:solidFill>
                  </a:tcPr>
                </a:tc>
              </a:tr>
              <a:tr h="502920">
                <a:tc>
                  <a:txBody>
                    <a:bodyPr/>
                    <a:lstStyle/>
                    <a:p>
                      <a:pPr algn="ctr"/>
                      <a:r>
                        <a:rPr sz="1200" b="1">
                          <a:solidFill>
                            <a:srgbClr val="4A4A4E"/>
                          </a:solidFill>
                          <a:latin typeface="Roboto Light"/>
                        </a:rPr>
                        <a:t>Store 88</a:t>
                      </a:r>
                    </a:p>
                  </a:txBody>
                  <a:tcPr anchor="ctr">
                    <a:solidFill>
                      <a:srgbClr val="FFFFFF"/>
                    </a:solidFill>
                  </a:tcPr>
                </a:tc>
                <a:tc>
                  <a:txBody>
                    <a:bodyPr/>
                    <a:lstStyle/>
                    <a:p>
                      <a:pPr algn="ctr"/>
                      <a:r>
                        <a:rPr sz="1200">
                          <a:solidFill>
                            <a:srgbClr val="4A4A4E"/>
                          </a:solidFill>
                          <a:latin typeface="Roboto Light"/>
                        </a:rPr>
                        <a:t>Store 237</a:t>
                      </a:r>
                    </a:p>
                  </a:txBody>
                  <a:tcPr anchor="ctr">
                    <a:solidFill>
                      <a:srgbClr val="FFFFFF"/>
                    </a:solidFill>
                  </a:tcPr>
                </a:tc>
                <a:tc>
                  <a:txBody>
                    <a:bodyPr/>
                    <a:lstStyle/>
                    <a:p>
                      <a:pPr algn="ctr"/>
                      <a:r>
                        <a:rPr sz="1200">
                          <a:solidFill>
                            <a:srgbClr val="4A4A4E"/>
                          </a:solidFill>
                          <a:latin typeface="Roboto Light"/>
                        </a:rPr>
                        <a:t>Highest combined correlation + magnitude score</a:t>
                      </a:r>
                    </a:p>
                  </a:txBody>
                  <a:tcPr anchor="ctr">
                    <a:solidFill>
                      <a:srgbClr val="FFFFFF"/>
                    </a:solidFill>
                  </a:tcPr>
                </a:tc>
              </a:tr>
            </a:tbl>
          </a:graphicData>
        </a:graphic>
      </p:graphicFrame>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The trial layout drove a significant sales uplift, most consistently in stores 86 and 88</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descr="trial_tvalues.png"/>
          <p:cNvPicPr>
            <a:picLocks noChangeAspect="1"/>
          </p:cNvPicPr>
          <p:nvPr/>
        </p:nvPicPr>
        <p:blipFill>
          <a:blip r:embed="rId3"/>
          <a:stretch>
            <a:fillRect/>
          </a:stretch>
        </p:blipFill>
        <p:spPr>
          <a:xfrm>
            <a:off x="914400" y="1417320"/>
            <a:ext cx="6035040" cy="2885905"/>
          </a:xfrm>
          <a:prstGeom prst="rect">
            <a:avLst/>
          </a:prstGeom>
        </p:spPr>
      </p:pic>
      <p:sp>
        <p:nvSpPr>
          <p:cNvPr id="6" name="TextBox 5"/>
          <p:cNvSpPr txBox="1"/>
          <p:nvPr/>
        </p:nvSpPr>
        <p:spPr>
          <a:xfrm>
            <a:off x="7223760" y="1463040"/>
            <a:ext cx="3749039" cy="3840480"/>
          </a:xfrm>
          <a:prstGeom prst="rect">
            <a:avLst/>
          </a:prstGeom>
          <a:noFill/>
        </p:spPr>
        <p:txBody>
          <a:bodyPr wrap="square">
            <a:spAutoFit/>
          </a:bodyPr>
          <a:lstStyle/>
          <a:p>
            <a:pPr algn="l" indent="-137160" marL="137160">
              <a:lnSpc>
                <a:spcPct val="115000"/>
              </a:lnSpc>
              <a:spcAft>
                <a:spcPts val="1000"/>
              </a:spcAft>
              <a:buFont typeface="Roboto Light"/>
              <a:buChar char="–"/>
            </a:pPr>
            <a:r>
              <a:rPr sz="1150" b="0">
                <a:solidFill>
                  <a:srgbClr val="4A4A4E"/>
                </a:solidFill>
                <a:latin typeface="Roboto Light"/>
              </a:rPr>
              <a:t>Store 77: significant uplift in March and April 2019, not February.</a:t>
            </a:r>
          </a:p>
          <a:p>
            <a:pPr algn="l" indent="-137160" marL="137160">
              <a:lnSpc>
                <a:spcPct val="115000"/>
              </a:lnSpc>
              <a:spcAft>
                <a:spcPts val="1000"/>
              </a:spcAft>
              <a:buFont typeface="Roboto Light"/>
              <a:buChar char="–"/>
            </a:pPr>
            <a:r>
              <a:rPr sz="1150" b="0">
                <a:solidFill>
                  <a:srgbClr val="4A4A4E"/>
                </a:solidFill>
                <a:latin typeface="Roboto Light"/>
              </a:rPr>
              <a:t>Store 86 (vs control 155): significant in February and March, uplift faded by April.</a:t>
            </a:r>
          </a:p>
          <a:p>
            <a:pPr algn="l" indent="-137160" marL="137160">
              <a:lnSpc>
                <a:spcPct val="115000"/>
              </a:lnSpc>
              <a:spcAft>
                <a:spcPts val="1000"/>
              </a:spcAft>
              <a:buFont typeface="Roboto Light"/>
              <a:buChar char="–"/>
            </a:pPr>
            <a:r>
              <a:rPr sz="1150" b="0">
                <a:solidFill>
                  <a:srgbClr val="4A4A4E"/>
                </a:solidFill>
                <a:latin typeface="Roboto Light"/>
              </a:rPr>
              <a:t>Store 88 (vs control 237): significant in March and April, not February.</a:t>
            </a:r>
          </a:p>
          <a:p>
            <a:pPr algn="l" indent="-137160" marL="137160">
              <a:lnSpc>
                <a:spcPct val="115000"/>
              </a:lnSpc>
              <a:spcAft>
                <a:spcPts val="1000"/>
              </a:spcAft>
              <a:buFont typeface="Roboto Light"/>
              <a:buChar char="–"/>
            </a:pPr>
            <a:r>
              <a:rPr sz="1150" b="0">
                <a:solidFill>
                  <a:srgbClr val="4A4A4E"/>
                </a:solidFill>
                <a:latin typeface="Roboto Light"/>
              </a:rPr>
              <a:t>All three stores cleared the critical t-value (1.943) in March — the strongest and most consistent month for the trial.</a:t>
            </a:r>
          </a:p>
          <a:p>
            <a:pPr algn="l" indent="-137160" marL="137160">
              <a:lnSpc>
                <a:spcPct val="115000"/>
              </a:lnSpc>
              <a:spcAft>
                <a:spcPts val="1000"/>
              </a:spcAft>
              <a:buFont typeface="Roboto Light"/>
              <a:buChar char="–"/>
            </a:pPr>
            <a:r>
              <a:rPr sz="1150" b="0">
                <a:solidFill>
                  <a:srgbClr val="4A4A4E"/>
                </a:solidFill>
                <a:latin typeface="Roboto Light"/>
              </a:rPr>
              <a:t>Driver analysis (customer numbers vs. average transactions per customer) was run for every significant month per store — see the supporting notebook for the full breakdown.</a:t>
            </a:r>
          </a:p>
        </p:txBody>
      </p:sp>
      <p:sp>
        <p:nvSpPr>
          <p:cNvPr id="7" name="TextBox 6"/>
          <p:cNvSpPr txBox="1"/>
          <p:nvPr/>
        </p:nvSpPr>
        <p:spPr>
          <a:xfrm>
            <a:off x="914400" y="5257800"/>
            <a:ext cx="9692640" cy="822960"/>
          </a:xfrm>
          <a:prstGeom prst="rect">
            <a:avLst/>
          </a:prstGeom>
          <a:noFill/>
        </p:spPr>
        <p:txBody>
          <a:bodyPr wrap="square">
            <a:spAutoFit/>
          </a:bodyPr>
          <a:lstStyle/>
          <a:p>
            <a:pPr algn="l">
              <a:lnSpc>
                <a:spcPct val="115000"/>
              </a:lnSpc>
              <a:spcAft>
                <a:spcPts val="600"/>
              </a:spcAft>
            </a:pPr>
            <a:r>
              <a:rPr sz="1250" b="1">
                <a:solidFill>
                  <a:srgbClr val="000005"/>
                </a:solidFill>
                <a:latin typeface="Roboto Light"/>
              </a:rPr>
              <a:t>Recommendation: the trial layout is associated with a genuine, repeatable sales uplift and should be considered for wider rollout, prioritising the conditions that produced the March result.</a:t>
            </a: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6328</TotalTime>
  <Words>372</Words>
  <Application>Microsoft Office PowerPoint</Application>
  <PresentationFormat>Widescreen</PresentationFormat>
  <Paragraphs>36</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Light</vt:lpstr>
      <vt:lpstr>Calibri</vt:lpstr>
      <vt:lpstr>Roboto Medium</vt:lpstr>
      <vt:lpstr>Arial</vt:lpstr>
      <vt:lpstr>Roboto</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Sarah D'oliveiro</cp:lastModifiedBy>
  <cp:revision>464</cp:revision>
  <dcterms:created xsi:type="dcterms:W3CDTF">2018-02-07T23:23:24Z</dcterms:created>
  <dcterms:modified xsi:type="dcterms:W3CDTF">2020-06-11T00:39:24Z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